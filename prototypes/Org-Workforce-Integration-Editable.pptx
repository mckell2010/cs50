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Editable integration diagram. All system cards, labels, arrows and logos are native PowerPoint objects. Logos are editable vector recreations of supplied references, not official master assets. System cards are grouped; use the Selection Pane or Ungroup to edit individual elements. The Oracle connection is one-way from the platform. This slide describes a proposed integration model, not deployed connections.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TriNet to Platform — employee and compensation data"/>
          <p:cNvGrpSpPr/>
          <p:nvPr/>
        </p:nvGrpSpPr>
        <p:grpSpPr>
          <a:xfrm>
            <a:off x="3850105" y="1348253"/>
            <a:ext cx="2738824" cy="1129381"/>
            <a:chOff x="3850105" y="1348253"/>
            <a:chExt cx="2738824" cy="1129381"/>
          </a:xfrm>
        </p:grpSpPr>
        <p:sp>
          <p:nvSpPr>
            <p:cNvPr id="3" name="TriNet to Platform — employee and compensation data — editable curve"/>
            <p:cNvSpPr/>
            <p:nvPr/>
          </p:nvSpPr>
          <p:spPr>
            <a:xfrm>
              <a:off x="3850105" y="1348253"/>
              <a:ext cx="2651322" cy="1129381"/>
            </a:xfrm>
            <a:custGeom>
              <a:avLst/>
              <a:gdLst/>
              <a:ahLst/>
              <a:cxnLst/>
              <a:rect l="0" t="0" r="r" b="b"/>
              <a:pathLst>
                <a:path w="303000" h="129000" fill="none" stroke="1">
                  <a:moveTo>
                    <a:pt x="0" y="0"/>
                  </a:moveTo>
                  <a:cubicBezTo>
                    <a:pt x="156000" y="0"/>
                    <a:pt x="303000" y="34000"/>
                    <a:pt x="303000" y="129000"/>
                  </a:cubicBezTo>
                </a:path>
              </a:pathLst>
            </a:custGeom>
            <a:noFill/>
            <a:ln w="34290">
              <a:solidFill>
                <a:srgbClr val="0879EA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TriNet to Platform — employee and compensation data — arrowhead"/>
            <p:cNvSpPr/>
            <p:nvPr/>
          </p:nvSpPr>
          <p:spPr>
            <a:xfrm>
              <a:off x="6413925" y="2320046"/>
              <a:ext cx="175004" cy="157588"/>
            </a:xfrm>
            <a:custGeom>
              <a:avLst/>
              <a:gdLst/>
              <a:ahLst/>
              <a:cxnLst/>
              <a:rect l="0" t="0" r="r" b="b"/>
              <a:pathLst>
                <a:path w="20000" h="18000" fill="norm" stroke="0">
                  <a:moveTo>
                    <a:pt x="10000" y="18000"/>
                  </a:moveTo>
                  <a:lnTo>
                    <a:pt x="2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879E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Platform to TriNet — approved workforce updates"/>
          <p:cNvGrpSpPr/>
          <p:nvPr/>
        </p:nvGrpSpPr>
        <p:grpSpPr>
          <a:xfrm>
            <a:off x="3850105" y="1829772"/>
            <a:ext cx="1828800" cy="752920"/>
            <a:chOff x="3850105" y="1829772"/>
            <a:chExt cx="1828800" cy="752920"/>
          </a:xfrm>
        </p:grpSpPr>
        <p:sp>
          <p:nvSpPr>
            <p:cNvPr id="6" name="Platform to TriNet — approved workforce updates — editable curve"/>
            <p:cNvSpPr/>
            <p:nvPr/>
          </p:nvSpPr>
          <p:spPr>
            <a:xfrm>
              <a:off x="3850105" y="1917321"/>
              <a:ext cx="1828800" cy="665371"/>
            </a:xfrm>
            <a:custGeom>
              <a:avLst/>
              <a:gdLst/>
              <a:ahLst/>
              <a:cxnLst/>
              <a:rect l="0" t="0" r="r" b="b"/>
              <a:pathLst>
                <a:path w="209000" h="76000" fill="none" stroke="1">
                  <a:moveTo>
                    <a:pt x="209000" y="76000"/>
                  </a:moveTo>
                  <a:cubicBezTo>
                    <a:pt x="178000" y="16000"/>
                    <a:pt x="72000" y="0"/>
                    <a:pt x="0" y="0"/>
                  </a:cubicBezTo>
                </a:path>
              </a:pathLst>
            </a:custGeom>
            <a:noFill/>
            <a:ln w="34290">
              <a:solidFill>
                <a:srgbClr val="646970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Platform to TriNet — approved workforce updates — arrowhead"/>
            <p:cNvSpPr/>
            <p:nvPr/>
          </p:nvSpPr>
          <p:spPr>
            <a:xfrm>
              <a:off x="3850105" y="1829772"/>
              <a:ext cx="157504" cy="175097"/>
            </a:xfrm>
            <a:custGeom>
              <a:avLst/>
              <a:gdLst/>
              <a:ahLst/>
              <a:cxnLst/>
              <a:rect l="0" t="0" r="r" b="b"/>
              <a:pathLst>
                <a:path w="18000" h="20000" fill="norm" stroke="0">
                  <a:moveTo>
                    <a:pt x="0" y="10000"/>
                  </a:moveTo>
                  <a:lnTo>
                    <a:pt x="18000" y="20000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64697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" name="Platform to Greenhouse — approved positions"/>
          <p:cNvGrpSpPr/>
          <p:nvPr/>
        </p:nvGrpSpPr>
        <p:grpSpPr>
          <a:xfrm>
            <a:off x="3850105" y="5314220"/>
            <a:ext cx="1828800" cy="551557"/>
            <a:chOff x="3850105" y="5314220"/>
            <a:chExt cx="1828800" cy="551557"/>
          </a:xfrm>
        </p:grpSpPr>
        <p:sp>
          <p:nvSpPr>
            <p:cNvPr id="9" name="Platform to Greenhouse — approved positions — editable curve"/>
            <p:cNvSpPr/>
            <p:nvPr/>
          </p:nvSpPr>
          <p:spPr>
            <a:xfrm>
              <a:off x="3850105" y="5314220"/>
              <a:ext cx="1828800" cy="464009"/>
            </a:xfrm>
            <a:custGeom>
              <a:avLst/>
              <a:gdLst/>
              <a:ahLst/>
              <a:cxnLst/>
              <a:rect l="0" t="0" r="r" b="b"/>
              <a:pathLst>
                <a:path w="209000" h="53000" fill="none" stroke="1">
                  <a:moveTo>
                    <a:pt x="209000" y="0"/>
                  </a:moveTo>
                  <a:cubicBezTo>
                    <a:pt x="170000" y="32000"/>
                    <a:pt x="74000" y="53000"/>
                    <a:pt x="0" y="53000"/>
                  </a:cubicBezTo>
                </a:path>
              </a:pathLst>
            </a:custGeom>
            <a:noFill/>
            <a:ln w="34290">
              <a:solidFill>
                <a:srgbClr val="646970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Platform to Greenhouse — approved positions — arrowhead"/>
            <p:cNvSpPr/>
            <p:nvPr/>
          </p:nvSpPr>
          <p:spPr>
            <a:xfrm>
              <a:off x="3850105" y="5690680"/>
              <a:ext cx="157504" cy="175097"/>
            </a:xfrm>
            <a:custGeom>
              <a:avLst/>
              <a:gdLst/>
              <a:ahLst/>
              <a:cxnLst/>
              <a:rect l="0" t="0" r="r" b="b"/>
              <a:pathLst>
                <a:path w="18000" h="20000" fill="norm" stroke="0">
                  <a:moveTo>
                    <a:pt x="0" y="10000"/>
                  </a:moveTo>
                  <a:lnTo>
                    <a:pt x="18000" y="20000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64697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" name="Greenhouse to Platform — recruiting progress"/>
          <p:cNvGrpSpPr/>
          <p:nvPr/>
        </p:nvGrpSpPr>
        <p:grpSpPr>
          <a:xfrm>
            <a:off x="3850105" y="5419279"/>
            <a:ext cx="2730074" cy="919263"/>
            <a:chOff x="3850105" y="5419279"/>
            <a:chExt cx="2730074" cy="919263"/>
          </a:xfrm>
        </p:grpSpPr>
        <p:sp>
          <p:nvSpPr>
            <p:cNvPr id="12" name="Greenhouse to Platform — recruiting progress — editable curve"/>
            <p:cNvSpPr/>
            <p:nvPr/>
          </p:nvSpPr>
          <p:spPr>
            <a:xfrm>
              <a:off x="3850105" y="5419279"/>
              <a:ext cx="2642572" cy="919263"/>
            </a:xfrm>
            <a:custGeom>
              <a:avLst/>
              <a:gdLst/>
              <a:ahLst/>
              <a:cxnLst/>
              <a:rect l="0" t="0" r="r" b="b"/>
              <a:pathLst>
                <a:path w="302000" h="105000" fill="none" stroke="1">
                  <a:moveTo>
                    <a:pt x="0" y="105000"/>
                  </a:moveTo>
                  <a:cubicBezTo>
                    <a:pt x="143000" y="105000"/>
                    <a:pt x="302000" y="84000"/>
                    <a:pt x="302000" y="0"/>
                  </a:cubicBezTo>
                </a:path>
              </a:pathLst>
            </a:custGeom>
            <a:noFill/>
            <a:ln w="34290">
              <a:solidFill>
                <a:srgbClr val="00A975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Greenhouse to Platform — recruiting progress — arrowhead"/>
            <p:cNvSpPr/>
            <p:nvPr/>
          </p:nvSpPr>
          <p:spPr>
            <a:xfrm>
              <a:off x="6405175" y="5419279"/>
              <a:ext cx="175004" cy="157588"/>
            </a:xfrm>
            <a:custGeom>
              <a:avLst/>
              <a:gdLst/>
              <a:ahLst/>
              <a:cxnLst/>
              <a:rect l="0" t="0" r="r" b="b"/>
              <a:pathLst>
                <a:path w="20000" h="18000" fill="norm" stroke="0">
                  <a:moveTo>
                    <a:pt x="10000" y="0"/>
                  </a:moveTo>
                  <a:lnTo>
                    <a:pt x="0" y="18000"/>
                  </a:lnTo>
                  <a:lnTo>
                    <a:pt x="20000" y="18000"/>
                  </a:lnTo>
                  <a:close/>
                </a:path>
              </a:pathLst>
            </a:custGeom>
            <a:solidFill>
              <a:srgbClr val="00A97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" name="Platform to Oracle — department budgets and SLAs"/>
          <p:cNvGrpSpPr/>
          <p:nvPr/>
        </p:nvGrpSpPr>
        <p:grpSpPr>
          <a:xfrm>
            <a:off x="9100248" y="3799623"/>
            <a:ext cx="2021305" cy="175097"/>
            <a:chOff x="9100248" y="3799623"/>
            <a:chExt cx="2021305" cy="175097"/>
          </a:xfrm>
        </p:grpSpPr>
        <p:sp>
          <p:nvSpPr>
            <p:cNvPr id="15" name="Platform to Oracle — department budgets and SLAs — editable curve"/>
            <p:cNvSpPr/>
            <p:nvPr/>
          </p:nvSpPr>
          <p:spPr>
            <a:xfrm>
              <a:off x="9100248" y="3887172"/>
              <a:ext cx="2021305" cy="8754"/>
            </a:xfrm>
            <a:custGeom>
              <a:avLst/>
              <a:gdLst/>
              <a:ahLst/>
              <a:cxnLst/>
              <a:rect l="0" t="0" r="r" b="b"/>
              <a:pathLst>
                <a:path w="231000" h="1000" fill="none" stroke="1">
                  <a:moveTo>
                    <a:pt x="0" y="0"/>
                  </a:moveTo>
                  <a:cubicBezTo>
                    <a:pt x="78000" y="0"/>
                    <a:pt x="151000" y="0"/>
                    <a:pt x="231000" y="0"/>
                  </a:cubicBezTo>
                </a:path>
              </a:pathLst>
            </a:custGeom>
            <a:noFill/>
            <a:ln w="34290">
              <a:solidFill>
                <a:srgbClr val="0879EA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Platform to Oracle — department budgets and SLAs — arrowhead"/>
            <p:cNvSpPr/>
            <p:nvPr/>
          </p:nvSpPr>
          <p:spPr>
            <a:xfrm>
              <a:off x="10964049" y="3799623"/>
              <a:ext cx="157504" cy="175097"/>
            </a:xfrm>
            <a:custGeom>
              <a:avLst/>
              <a:gdLst/>
              <a:ahLst/>
              <a:cxnLst/>
              <a:rect l="0" t="0" r="r" b="b"/>
              <a:pathLst>
                <a:path w="18000" h="20000" fill="norm" stroke="0">
                  <a:moveTo>
                    <a:pt x="18000" y="10000"/>
                  </a:moveTo>
                  <a:lnTo>
                    <a:pt x="0" y="0"/>
                  </a:lnTo>
                  <a:lnTo>
                    <a:pt x="0" y="20000"/>
                  </a:lnTo>
                  <a:close/>
                </a:path>
              </a:pathLst>
            </a:custGeom>
            <a:solidFill>
              <a:srgbClr val="0879E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" name="TriNet — editable system card"/>
          <p:cNvGrpSpPr/>
          <p:nvPr/>
        </p:nvGrpSpPr>
        <p:grpSpPr>
          <a:xfrm>
            <a:off x="376260" y="857979"/>
            <a:ext cx="3473844" cy="2363821"/>
            <a:chOff x="376260" y="857979"/>
            <a:chExt cx="3473844" cy="2363821"/>
          </a:xfrm>
        </p:grpSpPr>
        <p:sp>
          <p:nvSpPr>
            <p:cNvPr id="18" name="TriNet card background"/>
            <p:cNvSpPr/>
            <p:nvPr/>
          </p:nvSpPr>
          <p:spPr>
            <a:xfrm>
              <a:off x="376260" y="857979"/>
              <a:ext cx="3473844" cy="2363821"/>
            </a:xfrm>
            <a:prstGeom prst="roundRect">
              <a:avLst>
                <a:gd name="adj" fmla="val 9000"/>
              </a:avLst>
            </a:prstGeom>
            <a:solidFill>
              <a:srgbClr val="E7F3F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TriNet logo — dark purple icon"/>
            <p:cNvSpPr/>
            <p:nvPr/>
          </p:nvSpPr>
          <p:spPr>
            <a:xfrm>
              <a:off x="805022" y="1111871"/>
              <a:ext cx="971276" cy="971793"/>
            </a:xfrm>
            <a:prstGeom prst="roundRect">
              <a:avLst>
                <a:gd name="adj" fmla="val 19000"/>
              </a:avLst>
            </a:prstGeom>
            <a:solidFill>
              <a:srgbClr val="0D032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TriNet logo — white t"/>
            <p:cNvSpPr/>
            <p:nvPr/>
          </p:nvSpPr>
          <p:spPr>
            <a:xfrm>
              <a:off x="805022" y="1111871"/>
              <a:ext cx="971276" cy="971793"/>
            </a:xfrm>
            <a:custGeom>
              <a:avLst/>
              <a:gdLst/>
              <a:ahLst/>
              <a:cxnLst/>
              <a:rect l="0" t="0" r="r" b="b"/>
              <a:pathLst>
                <a:path w="512000" h="512000" fill="norm" stroke="0">
                  <a:moveTo>
                    <a:pt x="147000" y="72000"/>
                  </a:moveTo>
                  <a:lnTo>
                    <a:pt x="192000" y="72000"/>
                  </a:lnTo>
                  <a:lnTo>
                    <a:pt x="192000" y="163000"/>
                  </a:lnTo>
                  <a:lnTo>
                    <a:pt x="291000" y="163000"/>
                  </a:lnTo>
                  <a:lnTo>
                    <a:pt x="291000" y="208000"/>
                  </a:lnTo>
                  <a:lnTo>
                    <a:pt x="192000" y="208000"/>
                  </a:lnTo>
                  <a:lnTo>
                    <a:pt x="192000" y="333000"/>
                  </a:lnTo>
                  <a:cubicBezTo>
                    <a:pt x="192000" y="382000"/>
                    <a:pt x="225000" y="402000"/>
                    <a:pt x="291000" y="399000"/>
                  </a:cubicBezTo>
                  <a:lnTo>
                    <a:pt x="291000" y="439000"/>
                  </a:lnTo>
                  <a:cubicBezTo>
                    <a:pt x="197000" y="450000"/>
                    <a:pt x="147000" y="411000"/>
                    <a:pt x="147000" y="338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TriNet logo — orange corner"/>
            <p:cNvSpPr/>
            <p:nvPr/>
          </p:nvSpPr>
          <p:spPr>
            <a:xfrm>
              <a:off x="805022" y="1111871"/>
              <a:ext cx="971276" cy="971793"/>
            </a:xfrm>
            <a:custGeom>
              <a:avLst/>
              <a:gdLst/>
              <a:ahLst/>
              <a:cxnLst/>
              <a:rect l="0" t="0" r="r" b="b"/>
              <a:pathLst>
                <a:path w="512000" h="512000" fill="norm" stroke="0">
                  <a:moveTo>
                    <a:pt x="241000" y="72000"/>
                  </a:moveTo>
                  <a:lnTo>
                    <a:pt x="378000" y="72000"/>
                  </a:lnTo>
                  <a:lnTo>
                    <a:pt x="378000" y="202000"/>
                  </a:lnTo>
                  <a:lnTo>
                    <a:pt x="333000" y="202000"/>
                  </a:lnTo>
                  <a:lnTo>
                    <a:pt x="333000" y="113000"/>
                  </a:lnTo>
                  <a:lnTo>
                    <a:pt x="241000" y="113000"/>
                  </a:lnTo>
                  <a:close/>
                </a:path>
              </a:pathLst>
            </a:custGeom>
            <a:solidFill>
              <a:srgbClr val="FF510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TriNet wordmark"/>
            <p:cNvSpPr txBox="1"/>
            <p:nvPr/>
          </p:nvSpPr>
          <p:spPr>
            <a:xfrm>
              <a:off x="1933802" y="1295724"/>
              <a:ext cx="1680045" cy="577822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133" b="1">
                  <a:solidFill>
                    <a:srgbClr val="0D032B"/>
                  </a:solidFill>
                  <a:latin typeface="Arial"/>
                </a:rPr>
                <a:t>TriNet</a:t>
              </a:r>
            </a:p>
          </p:txBody>
        </p:sp>
        <p:sp>
          <p:nvSpPr>
            <p:cNvPr id="23" name="TriNet heading"/>
            <p:cNvSpPr txBox="1"/>
            <p:nvPr/>
          </p:nvSpPr>
          <p:spPr>
            <a:xfrm>
              <a:off x="507513" y="2171213"/>
              <a:ext cx="3211337" cy="33268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98" b="1">
                  <a:solidFill>
                    <a:srgbClr val="09254C"/>
                  </a:solidFill>
                  <a:latin typeface="Arial"/>
                </a:rPr>
                <a:t>HR &amp; COMPENSATION</a:t>
              </a:r>
            </a:p>
          </p:txBody>
        </p:sp>
        <p:sp>
          <p:nvSpPr>
            <p:cNvPr id="24" name="TriNet description"/>
            <p:cNvSpPr txBox="1"/>
            <p:nvPr/>
          </p:nvSpPr>
          <p:spPr>
            <a:xfrm>
              <a:off x="498763" y="2547674"/>
              <a:ext cx="3237588" cy="51653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8" b="0">
                  <a:solidFill>
                    <a:srgbClr val="525C68"/>
                  </a:solidFill>
                  <a:latin typeface="Arial"/>
                </a:rPr>
                <a:t>Employee identity · Legal employer</a:t>
              </a:r>
            </a:p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8" b="0">
                  <a:solidFill>
                    <a:srgbClr val="525C68"/>
                  </a:solidFill>
                  <a:latin typeface="Arial"/>
                </a:rPr>
                <a:t>Employment classification · Actual pay</a:t>
              </a:r>
            </a:p>
          </p:txBody>
        </p:sp>
      </p:grpSp>
      <p:grpSp>
        <p:nvGrpSpPr>
          <p:cNvPr id="25" name="Divergent platform — editable system card"/>
          <p:cNvGrpSpPr/>
          <p:nvPr/>
        </p:nvGrpSpPr>
        <p:grpSpPr>
          <a:xfrm>
            <a:off x="5600153" y="2477634"/>
            <a:ext cx="3500095" cy="2941644"/>
            <a:chOff x="5600153" y="2477634"/>
            <a:chExt cx="3500095" cy="2941644"/>
          </a:xfrm>
        </p:grpSpPr>
        <p:sp>
          <p:nvSpPr>
            <p:cNvPr id="26" name="Platform card background"/>
            <p:cNvSpPr/>
            <p:nvPr/>
          </p:nvSpPr>
          <p:spPr>
            <a:xfrm>
              <a:off x="5600153" y="2477634"/>
              <a:ext cx="3500095" cy="2941644"/>
            </a:xfrm>
            <a:prstGeom prst="roundRect">
              <a:avLst>
                <a:gd name="adj" fmla="val 8500"/>
              </a:avLst>
            </a:prstGeom>
            <a:solidFill>
              <a:srgbClr val="103451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Divergent logo — triangular vector emblem"/>
            <p:cNvSpPr/>
            <p:nvPr/>
          </p:nvSpPr>
          <p:spPr>
            <a:xfrm>
              <a:off x="5827659" y="2827830"/>
              <a:ext cx="743770" cy="656617"/>
            </a:xfrm>
            <a:custGeom>
              <a:avLst/>
              <a:gdLst/>
              <a:ahLst/>
              <a:cxnLst/>
              <a:rect l="0" t="0" r="r" b="b"/>
              <a:pathLst>
                <a:path w="128000" h="113000" fill="norm" stroke="0">
                  <a:moveTo>
                    <a:pt x="0" y="0"/>
                  </a:moveTo>
                  <a:lnTo>
                    <a:pt x="25000" y="0"/>
                  </a:lnTo>
                  <a:cubicBezTo>
                    <a:pt x="37000" y="0"/>
                    <a:pt x="43000" y="6000"/>
                    <a:pt x="43000" y="18000"/>
                  </a:cubicBezTo>
                  <a:lnTo>
                    <a:pt x="43000" y="76000"/>
                  </a:lnTo>
                  <a:close/>
                  <a:moveTo>
                    <a:pt x="43000" y="0"/>
                  </a:moveTo>
                  <a:lnTo>
                    <a:pt x="128000" y="0"/>
                  </a:lnTo>
                  <a:lnTo>
                    <a:pt x="111000" y="25000"/>
                  </a:lnTo>
                  <a:cubicBezTo>
                    <a:pt x="106000" y="34000"/>
                    <a:pt x="101000" y="34000"/>
                    <a:pt x="91000" y="29000"/>
                  </a:cubicBezTo>
                  <a:close/>
                  <a:moveTo>
                    <a:pt x="107000" y="38000"/>
                  </a:moveTo>
                  <a:lnTo>
                    <a:pt x="65000" y="113000"/>
                  </a:lnTo>
                  <a:lnTo>
                    <a:pt x="52000" y="91000"/>
                  </a:lnTo>
                  <a:cubicBezTo>
                    <a:pt x="43000" y="77000"/>
                    <a:pt x="48000" y="68000"/>
                    <a:pt x="60000" y="61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Divergent wordmark"/>
            <p:cNvSpPr txBox="1"/>
            <p:nvPr/>
          </p:nvSpPr>
          <p:spPr>
            <a:xfrm>
              <a:off x="6711433" y="2906624"/>
              <a:ext cx="2170059" cy="41148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49" b="1">
                  <a:solidFill>
                    <a:srgbClr val="FFFFFF"/>
                  </a:solidFill>
                  <a:latin typeface="Arial"/>
                </a:rPr>
                <a:t>DIVERGENT</a:t>
              </a:r>
            </a:p>
          </p:txBody>
        </p:sp>
        <p:sp>
          <p:nvSpPr>
            <p:cNvPr id="29" name="Platform heading"/>
            <p:cNvSpPr txBox="1"/>
            <p:nvPr/>
          </p:nvSpPr>
          <p:spPr>
            <a:xfrm>
              <a:off x="5731406" y="3519467"/>
              <a:ext cx="3237588" cy="288911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31" b="1">
                  <a:solidFill>
                    <a:srgbClr val="FFFFFF"/>
                  </a:solidFill>
                  <a:latin typeface="Arial"/>
                </a:rPr>
                <a:t>ORG &amp; WORKFORCE PLATFORM</a:t>
              </a:r>
            </a:p>
          </p:txBody>
        </p:sp>
        <p:sp>
          <p:nvSpPr>
            <p:cNvPr id="30" name="Platform divider"/>
            <p:cNvSpPr/>
            <p:nvPr/>
          </p:nvSpPr>
          <p:spPr>
            <a:xfrm>
              <a:off x="5801408" y="3904682"/>
              <a:ext cx="3097584" cy="11381"/>
            </a:xfrm>
            <a:prstGeom prst="rect">
              <a:avLst/>
            </a:prstGeom>
            <a:solidFill>
              <a:srgbClr val="58738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Platform function 1"/>
            <p:cNvSpPr txBox="1"/>
            <p:nvPr/>
          </p:nvSpPr>
          <p:spPr>
            <a:xfrm>
              <a:off x="5713906" y="4079780"/>
              <a:ext cx="3272589" cy="253891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0">
                  <a:solidFill>
                    <a:srgbClr val="FFFFFF"/>
                  </a:solidFill>
                  <a:latin typeface="Arial"/>
                </a:rPr>
                <a:t>Department hierarchy &amp; charters</a:t>
              </a:r>
            </a:p>
          </p:txBody>
        </p:sp>
        <p:sp>
          <p:nvSpPr>
            <p:cNvPr id="32" name="Platform function 2"/>
            <p:cNvSpPr txBox="1"/>
            <p:nvPr/>
          </p:nvSpPr>
          <p:spPr>
            <a:xfrm>
              <a:off x="5713906" y="4368691"/>
              <a:ext cx="3272589" cy="253891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0">
                  <a:solidFill>
                    <a:srgbClr val="FFFFFF"/>
                  </a:solidFill>
                  <a:latin typeface="Arial"/>
                </a:rPr>
                <a:t>Positions &amp; reporting relationships</a:t>
              </a:r>
            </a:p>
          </p:txBody>
        </p:sp>
        <p:sp>
          <p:nvSpPr>
            <p:cNvPr id="33" name="Platform function 3"/>
            <p:cNvSpPr txBox="1"/>
            <p:nvPr/>
          </p:nvSpPr>
          <p:spPr>
            <a:xfrm>
              <a:off x="5713906" y="4657603"/>
              <a:ext cx="3272589" cy="253891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0">
                  <a:solidFill>
                    <a:srgbClr val="FFFFFF"/>
                  </a:solidFill>
                  <a:latin typeface="Arial"/>
                </a:rPr>
                <a:t>Payroll budgets &amp; SLAs</a:t>
              </a:r>
            </a:p>
          </p:txBody>
        </p:sp>
        <p:sp>
          <p:nvSpPr>
            <p:cNvPr id="34" name="Platform function 4"/>
            <p:cNvSpPr txBox="1"/>
            <p:nvPr/>
          </p:nvSpPr>
          <p:spPr>
            <a:xfrm>
              <a:off x="5713906" y="4946514"/>
              <a:ext cx="3272589" cy="253891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0">
                  <a:solidFill>
                    <a:srgbClr val="FFFFFF"/>
                  </a:solidFill>
                  <a:latin typeface="Arial"/>
                </a:rPr>
                <a:t>Headcount &amp; payroll dashboards</a:t>
              </a:r>
            </a:p>
          </p:txBody>
        </p:sp>
      </p:grpSp>
      <p:grpSp>
        <p:nvGrpSpPr>
          <p:cNvPr id="35" name="Oracle — editable system card"/>
          <p:cNvGrpSpPr/>
          <p:nvPr/>
        </p:nvGrpSpPr>
        <p:grpSpPr>
          <a:xfrm>
            <a:off x="11121554" y="2670242"/>
            <a:ext cx="3325090" cy="2784056"/>
            <a:chOff x="11121554" y="2670242"/>
            <a:chExt cx="3325090" cy="2784056"/>
          </a:xfrm>
        </p:grpSpPr>
        <p:sp>
          <p:nvSpPr>
            <p:cNvPr id="36" name="Oracle card background"/>
            <p:cNvSpPr/>
            <p:nvPr/>
          </p:nvSpPr>
          <p:spPr>
            <a:xfrm>
              <a:off x="11121554" y="2670242"/>
              <a:ext cx="3325090" cy="2784056"/>
            </a:xfrm>
            <a:prstGeom prst="roundRect">
              <a:avLst>
                <a:gd name="adj" fmla="val 9000"/>
              </a:avLst>
            </a:prstGeom>
            <a:solidFill>
              <a:srgbClr val="FDEBED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Oracle logo — O emblem"/>
            <p:cNvSpPr/>
            <p:nvPr/>
          </p:nvSpPr>
          <p:spPr>
            <a:xfrm>
              <a:off x="11952826" y="2845340"/>
              <a:ext cx="1662545" cy="1015567"/>
            </a:xfrm>
            <a:custGeom>
              <a:avLst/>
              <a:gdLst/>
              <a:ahLst/>
              <a:cxnLst/>
              <a:rect l="0" t="0" r="r" b="b"/>
              <a:pathLst>
                <a:path w="478000" h="292000" fill="norm" stroke="0">
                  <a:moveTo>
                    <a:pt x="146000" y="0"/>
                  </a:moveTo>
                  <a:lnTo>
                    <a:pt x="332000" y="0"/>
                  </a:lnTo>
                  <a:cubicBezTo>
                    <a:pt x="412634" y="0"/>
                    <a:pt x="478000" y="65366"/>
                    <a:pt x="478000" y="146000"/>
                  </a:cubicBezTo>
                  <a:cubicBezTo>
                    <a:pt x="478000" y="226634"/>
                    <a:pt x="412634" y="292000"/>
                    <a:pt x="332000" y="292000"/>
                  </a:cubicBezTo>
                  <a:lnTo>
                    <a:pt x="146000" y="292000"/>
                  </a:lnTo>
                  <a:cubicBezTo>
                    <a:pt x="65366" y="292000"/>
                    <a:pt x="0" y="226634"/>
                    <a:pt x="0" y="146000"/>
                  </a:cubicBezTo>
                  <a:cubicBezTo>
                    <a:pt x="0" y="65366"/>
                    <a:pt x="65366" y="0"/>
                    <a:pt x="146000" y="0"/>
                  </a:cubicBezTo>
                  <a:close/>
                  <a:moveTo>
                    <a:pt x="146000" y="55000"/>
                  </a:moveTo>
                  <a:cubicBezTo>
                    <a:pt x="95742" y="55000"/>
                    <a:pt x="55000" y="95742"/>
                    <a:pt x="55000" y="146000"/>
                  </a:cubicBezTo>
                  <a:cubicBezTo>
                    <a:pt x="55000" y="196258"/>
                    <a:pt x="95742" y="237000"/>
                    <a:pt x="146000" y="237000"/>
                  </a:cubicBezTo>
                  <a:lnTo>
                    <a:pt x="332000" y="237000"/>
                  </a:lnTo>
                  <a:cubicBezTo>
                    <a:pt x="382258" y="237000"/>
                    <a:pt x="423000" y="196258"/>
                    <a:pt x="423000" y="146000"/>
                  </a:cubicBezTo>
                  <a:cubicBezTo>
                    <a:pt x="423000" y="95742"/>
                    <a:pt x="382258" y="55000"/>
                    <a:pt x="332000" y="55000"/>
                  </a:cubicBezTo>
                  <a:lnTo>
                    <a:pt x="146000" y="55000"/>
                  </a:lnTo>
                  <a:close/>
                </a:path>
              </a:pathLst>
            </a:custGeom>
            <a:solidFill>
              <a:srgbClr val="F4000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Oracle wordmark — O"/>
            <p:cNvSpPr/>
            <p:nvPr/>
          </p:nvSpPr>
          <p:spPr>
            <a:xfrm>
              <a:off x="11611567" y="3922192"/>
              <a:ext cx="393760" cy="262646"/>
            </a:xfrm>
            <a:custGeom>
              <a:avLst/>
              <a:gdLst/>
              <a:ahLst/>
              <a:cxnLst/>
              <a:rect l="0" t="0" r="r" b="b"/>
              <a:pathLst>
                <a:path w="76000" h="42000" fill="norm" stroke="0">
                  <a:moveTo>
                    <a:pt x="21000" y="0"/>
                  </a:moveTo>
                  <a:lnTo>
                    <a:pt x="55000" y="0"/>
                  </a:lnTo>
                  <a:cubicBezTo>
                    <a:pt x="66598" y="0"/>
                    <a:pt x="76000" y="9402"/>
                    <a:pt x="76000" y="21000"/>
                  </a:cubicBezTo>
                  <a:cubicBezTo>
                    <a:pt x="76000" y="32598"/>
                    <a:pt x="66598" y="42000"/>
                    <a:pt x="55000" y="42000"/>
                  </a:cubicBezTo>
                  <a:lnTo>
                    <a:pt x="21000" y="42000"/>
                  </a:lnTo>
                  <a:cubicBezTo>
                    <a:pt x="9402" y="42000"/>
                    <a:pt x="0" y="32598"/>
                    <a:pt x="0" y="21000"/>
                  </a:cubicBezTo>
                  <a:cubicBezTo>
                    <a:pt x="0" y="9402"/>
                    <a:pt x="9402" y="0"/>
                    <a:pt x="21000" y="0"/>
                  </a:cubicBezTo>
                  <a:close/>
                  <a:moveTo>
                    <a:pt x="21000" y="7000"/>
                  </a:moveTo>
                  <a:cubicBezTo>
                    <a:pt x="13268" y="7000"/>
                    <a:pt x="7000" y="13268"/>
                    <a:pt x="7000" y="21000"/>
                  </a:cubicBezTo>
                  <a:cubicBezTo>
                    <a:pt x="7000" y="28732"/>
                    <a:pt x="13268" y="35000"/>
                    <a:pt x="21000" y="35000"/>
                  </a:cubicBezTo>
                  <a:lnTo>
                    <a:pt x="55000" y="35000"/>
                  </a:lnTo>
                  <a:cubicBezTo>
                    <a:pt x="62732" y="35000"/>
                    <a:pt x="69000" y="28732"/>
                    <a:pt x="69000" y="21000"/>
                  </a:cubicBezTo>
                  <a:cubicBezTo>
                    <a:pt x="69000" y="13268"/>
                    <a:pt x="62732" y="7000"/>
                    <a:pt x="55000" y="7000"/>
                  </a:cubicBezTo>
                  <a:lnTo>
                    <a:pt x="21000" y="7000"/>
                  </a:lnTo>
                  <a:close/>
                </a:path>
              </a:pathLst>
            </a:custGeom>
            <a:solidFill>
              <a:srgbClr val="F4000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Oracle wordmark — R"/>
            <p:cNvSpPr/>
            <p:nvPr/>
          </p:nvSpPr>
          <p:spPr>
            <a:xfrm>
              <a:off x="12014078" y="3922192"/>
              <a:ext cx="393760" cy="262646"/>
            </a:xfrm>
            <a:custGeom>
              <a:avLst/>
              <a:gdLst/>
              <a:ahLst/>
              <a:cxnLst/>
              <a:rect l="0" t="0" r="r" b="b"/>
              <a:pathLst>
                <a:path w="76000" h="42000" fill="norm" stroke="0">
                  <a:moveTo>
                    <a:pt x="0" y="0"/>
                  </a:moveTo>
                  <a:lnTo>
                    <a:pt x="45000" y="0"/>
                  </a:lnTo>
                  <a:cubicBezTo>
                    <a:pt x="77000" y="0"/>
                    <a:pt x="77000" y="26000"/>
                    <a:pt x="47000" y="26000"/>
                  </a:cubicBezTo>
                  <a:lnTo>
                    <a:pt x="76000" y="42000"/>
                  </a:lnTo>
                  <a:lnTo>
                    <a:pt x="61000" y="42000"/>
                  </a:lnTo>
                  <a:lnTo>
                    <a:pt x="34000" y="26000"/>
                  </a:lnTo>
                  <a:lnTo>
                    <a:pt x="0" y="26000"/>
                  </a:lnTo>
                  <a:lnTo>
                    <a:pt x="0" y="19000"/>
                  </a:lnTo>
                  <a:lnTo>
                    <a:pt x="45000" y="19000"/>
                  </a:lnTo>
                  <a:cubicBezTo>
                    <a:pt x="64000" y="19000"/>
                    <a:pt x="64000" y="7000"/>
                    <a:pt x="45000" y="7000"/>
                  </a:cubicBezTo>
                  <a:lnTo>
                    <a:pt x="0" y="7000"/>
                  </a:lnTo>
                  <a:close/>
                </a:path>
              </a:pathLst>
            </a:custGeom>
            <a:solidFill>
              <a:srgbClr val="F4000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Oracle wordmark — A"/>
            <p:cNvSpPr/>
            <p:nvPr/>
          </p:nvSpPr>
          <p:spPr>
            <a:xfrm>
              <a:off x="12416589" y="3922192"/>
              <a:ext cx="393760" cy="262646"/>
            </a:xfrm>
            <a:custGeom>
              <a:avLst/>
              <a:gdLst/>
              <a:ahLst/>
              <a:cxnLst/>
              <a:rect l="0" t="0" r="r" b="b"/>
              <a:pathLst>
                <a:path w="76000" h="42000" fill="norm" stroke="0">
                  <a:moveTo>
                    <a:pt x="0" y="42000"/>
                  </a:moveTo>
                  <a:lnTo>
                    <a:pt x="32000" y="0"/>
                  </a:lnTo>
                  <a:lnTo>
                    <a:pt x="42000" y="0"/>
                  </a:lnTo>
                  <a:lnTo>
                    <a:pt x="76000" y="42000"/>
                  </a:lnTo>
                  <a:lnTo>
                    <a:pt x="66000" y="42000"/>
                  </a:lnTo>
                  <a:lnTo>
                    <a:pt x="37000" y="7000"/>
                  </a:lnTo>
                  <a:lnTo>
                    <a:pt x="13000" y="36000"/>
                  </a:lnTo>
                  <a:lnTo>
                    <a:pt x="55000" y="36000"/>
                  </a:lnTo>
                  <a:lnTo>
                    <a:pt x="61000" y="42000"/>
                  </a:lnTo>
                  <a:close/>
                </a:path>
              </a:pathLst>
            </a:custGeom>
            <a:solidFill>
              <a:srgbClr val="F4000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Oracle wordmark — C"/>
            <p:cNvSpPr/>
            <p:nvPr/>
          </p:nvSpPr>
          <p:spPr>
            <a:xfrm>
              <a:off x="12819100" y="3922192"/>
              <a:ext cx="393760" cy="262646"/>
            </a:xfrm>
            <a:custGeom>
              <a:avLst/>
              <a:gdLst/>
              <a:ahLst/>
              <a:cxnLst/>
              <a:rect l="0" t="0" r="r" b="b"/>
              <a:pathLst>
                <a:path w="76000" h="42000" fill="norm" stroke="0">
                  <a:moveTo>
                    <a:pt x="73000" y="0"/>
                  </a:moveTo>
                  <a:lnTo>
                    <a:pt x="21000" y="0"/>
                  </a:lnTo>
                  <a:cubicBezTo>
                    <a:pt x="-7000" y="0"/>
                    <a:pt x="-7000" y="42000"/>
                    <a:pt x="21000" y="42000"/>
                  </a:cubicBezTo>
                  <a:lnTo>
                    <a:pt x="73000" y="42000"/>
                  </a:lnTo>
                  <a:lnTo>
                    <a:pt x="67000" y="35000"/>
                  </a:lnTo>
                  <a:lnTo>
                    <a:pt x="22000" y="35000"/>
                  </a:lnTo>
                  <a:cubicBezTo>
                    <a:pt x="3000" y="35000"/>
                    <a:pt x="3000" y="7000"/>
                    <a:pt x="22000" y="7000"/>
                  </a:cubicBezTo>
                  <a:lnTo>
                    <a:pt x="67000" y="7000"/>
                  </a:lnTo>
                  <a:close/>
                </a:path>
              </a:pathLst>
            </a:custGeom>
            <a:solidFill>
              <a:srgbClr val="F4000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Oracle wordmark — L"/>
            <p:cNvSpPr/>
            <p:nvPr/>
          </p:nvSpPr>
          <p:spPr>
            <a:xfrm>
              <a:off x="13221611" y="3922192"/>
              <a:ext cx="393760" cy="262646"/>
            </a:xfrm>
            <a:custGeom>
              <a:avLst/>
              <a:gdLst/>
              <a:ahLst/>
              <a:cxnLst/>
              <a:rect l="0" t="0" r="r" b="b"/>
              <a:pathLst>
                <a:path w="76000" h="42000" fill="norm" stroke="0">
                  <a:moveTo>
                    <a:pt x="0" y="0"/>
                  </a:moveTo>
                  <a:lnTo>
                    <a:pt x="8000" y="0"/>
                  </a:lnTo>
                  <a:lnTo>
                    <a:pt x="8000" y="35000"/>
                  </a:lnTo>
                  <a:lnTo>
                    <a:pt x="69000" y="35000"/>
                  </a:lnTo>
                  <a:lnTo>
                    <a:pt x="75000" y="42000"/>
                  </a:lnTo>
                  <a:lnTo>
                    <a:pt x="0" y="42000"/>
                  </a:lnTo>
                  <a:close/>
                </a:path>
              </a:pathLst>
            </a:custGeom>
            <a:solidFill>
              <a:srgbClr val="F4000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Oracle wordmark — E"/>
            <p:cNvSpPr/>
            <p:nvPr/>
          </p:nvSpPr>
          <p:spPr>
            <a:xfrm>
              <a:off x="13624122" y="3922192"/>
              <a:ext cx="393760" cy="262646"/>
            </a:xfrm>
            <a:custGeom>
              <a:avLst/>
              <a:gdLst/>
              <a:ahLst/>
              <a:cxnLst/>
              <a:rect l="0" t="0" r="r" b="b"/>
              <a:pathLst>
                <a:path w="76000" h="42000" fill="norm" stroke="0">
                  <a:moveTo>
                    <a:pt x="73000" y="0"/>
                  </a:moveTo>
                  <a:lnTo>
                    <a:pt x="21000" y="0"/>
                  </a:lnTo>
                  <a:cubicBezTo>
                    <a:pt x="-7000" y="0"/>
                    <a:pt x="-7000" y="42000"/>
                    <a:pt x="21000" y="42000"/>
                  </a:cubicBezTo>
                  <a:lnTo>
                    <a:pt x="73000" y="42000"/>
                  </a:lnTo>
                  <a:lnTo>
                    <a:pt x="67000" y="35000"/>
                  </a:lnTo>
                  <a:lnTo>
                    <a:pt x="22000" y="35000"/>
                  </a:lnTo>
                  <a:cubicBezTo>
                    <a:pt x="14000" y="35000"/>
                    <a:pt x="10000" y="30000"/>
                    <a:pt x="9000" y="25000"/>
                  </a:cubicBezTo>
                  <a:lnTo>
                    <a:pt x="64000" y="25000"/>
                  </a:lnTo>
                  <a:lnTo>
                    <a:pt x="69000" y="18000"/>
                  </a:lnTo>
                  <a:lnTo>
                    <a:pt x="9000" y="18000"/>
                  </a:lnTo>
                  <a:cubicBezTo>
                    <a:pt x="10000" y="11000"/>
                    <a:pt x="14000" y="7000"/>
                    <a:pt x="22000" y="7000"/>
                  </a:cubicBezTo>
                  <a:lnTo>
                    <a:pt x="67000" y="7000"/>
                  </a:lnTo>
                  <a:close/>
                </a:path>
              </a:pathLst>
            </a:custGeom>
            <a:solidFill>
              <a:srgbClr val="F4000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Oracle heading"/>
            <p:cNvSpPr txBox="1"/>
            <p:nvPr/>
          </p:nvSpPr>
          <p:spPr>
            <a:xfrm>
              <a:off x="11200306" y="4377446"/>
              <a:ext cx="3167586" cy="323931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39" b="1">
                  <a:solidFill>
                    <a:srgbClr val="09254C"/>
                  </a:solidFill>
                  <a:latin typeface="Arial"/>
                </a:rPr>
                <a:t>FINANCE &amp; DEPARTMENT RECORDS</a:t>
              </a:r>
            </a:p>
          </p:txBody>
        </p:sp>
        <p:sp>
          <p:nvSpPr>
            <p:cNvPr id="45" name="Oracle description"/>
            <p:cNvSpPr txBox="1"/>
            <p:nvPr/>
          </p:nvSpPr>
          <p:spPr>
            <a:xfrm>
              <a:off x="11209056" y="4745152"/>
              <a:ext cx="3150086" cy="507783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5" b="0">
                  <a:solidFill>
                    <a:srgbClr val="525C68"/>
                  </a:solidFill>
                  <a:latin typeface="Arial"/>
                </a:rPr>
                <a:t>Department codes &amp; mappings</a:t>
              </a:r>
            </a:p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5" b="0">
                  <a:solidFill>
                    <a:srgbClr val="525C68"/>
                  </a:solidFill>
                  <a:latin typeface="Arial"/>
                </a:rPr>
                <a:t>Financial planning &amp; reporting</a:t>
              </a:r>
            </a:p>
          </p:txBody>
        </p:sp>
      </p:grpSp>
      <p:grpSp>
        <p:nvGrpSpPr>
          <p:cNvPr id="46" name="Greenhouse — editable system card"/>
          <p:cNvGrpSpPr/>
          <p:nvPr/>
        </p:nvGrpSpPr>
        <p:grpSpPr>
          <a:xfrm>
            <a:off x="376260" y="5060328"/>
            <a:ext cx="3473844" cy="2144948"/>
            <a:chOff x="376260" y="5060328"/>
            <a:chExt cx="3473844" cy="2144948"/>
          </a:xfrm>
        </p:grpSpPr>
        <p:sp>
          <p:nvSpPr>
            <p:cNvPr id="47" name="Greenhouse card background"/>
            <p:cNvSpPr/>
            <p:nvPr/>
          </p:nvSpPr>
          <p:spPr>
            <a:xfrm>
              <a:off x="376260" y="5060328"/>
              <a:ext cx="3473844" cy="2144948"/>
            </a:xfrm>
            <a:prstGeom prst="roundRect">
              <a:avLst>
                <a:gd name="adj" fmla="val 9000"/>
              </a:avLst>
            </a:prstGeom>
            <a:solidFill>
              <a:srgbClr val="E8F5E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Greenhouse wordmark — r"/>
            <p:cNvSpPr/>
            <p:nvPr/>
          </p:nvSpPr>
          <p:spPr>
            <a:xfrm>
              <a:off x="1102530" y="5366749"/>
              <a:ext cx="2467567" cy="551558"/>
            </a:xfrm>
            <a:custGeom>
              <a:avLst/>
              <a:gdLst/>
              <a:ahLst/>
              <a:cxnLst/>
              <a:rect l="0" t="0" r="r" b="b"/>
              <a:pathLst>
                <a:path w="10836000" h="2048000" fill="norm" stroke="0">
                  <a:moveTo>
                    <a:pt x="840000" y="515000"/>
                  </a:moveTo>
                  <a:cubicBezTo>
                    <a:pt x="825333" y="507667"/>
                    <a:pt x="805333" y="501333"/>
                    <a:pt x="780000" y="496000"/>
                  </a:cubicBezTo>
                  <a:cubicBezTo>
                    <a:pt x="757333" y="492000"/>
                    <a:pt x="728667" y="490000"/>
                    <a:pt x="694000" y="490000"/>
                  </a:cubicBezTo>
                  <a:cubicBezTo>
                    <a:pt x="580667" y="490000"/>
                    <a:pt x="486667" y="532000"/>
                    <a:pt x="412000" y="616000"/>
                  </a:cubicBezTo>
                  <a:cubicBezTo>
                    <a:pt x="353333" y="684000"/>
                    <a:pt x="324000" y="800667"/>
                    <a:pt x="324000" y="966000"/>
                  </a:cubicBezTo>
                  <a:lnTo>
                    <a:pt x="324000" y="1556000"/>
                  </a:lnTo>
                  <a:lnTo>
                    <a:pt x="234000" y="1556000"/>
                  </a:lnTo>
                  <a:lnTo>
                    <a:pt x="234000" y="436000"/>
                  </a:lnTo>
                  <a:lnTo>
                    <a:pt x="324000" y="436000"/>
                  </a:lnTo>
                  <a:lnTo>
                    <a:pt x="324000" y="646000"/>
                  </a:lnTo>
                  <a:cubicBezTo>
                    <a:pt x="354000" y="586000"/>
                    <a:pt x="396000" y="535333"/>
                    <a:pt x="450000" y="494000"/>
                  </a:cubicBezTo>
                  <a:cubicBezTo>
                    <a:pt x="524667" y="437333"/>
                    <a:pt x="612667" y="409000"/>
                    <a:pt x="714000" y="409000"/>
                  </a:cubicBezTo>
                  <a:cubicBezTo>
                    <a:pt x="740000" y="409000"/>
                    <a:pt x="762667" y="410000"/>
                    <a:pt x="782000" y="412000"/>
                  </a:cubicBezTo>
                  <a:cubicBezTo>
                    <a:pt x="802000" y="412000"/>
                    <a:pt x="821333" y="414333"/>
                    <a:pt x="840000" y="419000"/>
                  </a:cubicBezTo>
                  <a:close/>
                </a:path>
              </a:pathLst>
            </a:custGeom>
            <a:solidFill>
              <a:srgbClr val="0BB0A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Greenhouse wordmark — e"/>
            <p:cNvSpPr/>
            <p:nvPr/>
          </p:nvSpPr>
          <p:spPr>
            <a:xfrm>
              <a:off x="1102530" y="5366749"/>
              <a:ext cx="2467567" cy="551558"/>
            </a:xfrm>
            <a:custGeom>
              <a:avLst/>
              <a:gdLst/>
              <a:ahLst/>
              <a:cxnLst/>
              <a:rect l="0" t="0" r="r" b="b"/>
              <a:pathLst>
                <a:path w="10836000" h="2048000" fill="norm" stroke="0">
                  <a:moveTo>
                    <a:pt x="1947000" y="950000"/>
                  </a:moveTo>
                  <a:lnTo>
                    <a:pt x="1947000" y="1008000"/>
                  </a:lnTo>
                  <a:lnTo>
                    <a:pt x="1097000" y="1008000"/>
                  </a:lnTo>
                  <a:cubicBezTo>
                    <a:pt x="1097000" y="1188000"/>
                    <a:pt x="1132000" y="1314000"/>
                    <a:pt x="1202000" y="1386000"/>
                  </a:cubicBezTo>
                  <a:cubicBezTo>
                    <a:pt x="1279333" y="1466000"/>
                    <a:pt x="1394333" y="1506000"/>
                    <a:pt x="1547000" y="1506000"/>
                  </a:cubicBezTo>
                  <a:cubicBezTo>
                    <a:pt x="1587000" y="1506000"/>
                    <a:pt x="1640000" y="1497333"/>
                    <a:pt x="1706000" y="1480000"/>
                  </a:cubicBezTo>
                  <a:cubicBezTo>
                    <a:pt x="1772667" y="1462667"/>
                    <a:pt x="1838667" y="1436667"/>
                    <a:pt x="1904000" y="1402000"/>
                  </a:cubicBezTo>
                  <a:lnTo>
                    <a:pt x="1904000" y="1499000"/>
                  </a:lnTo>
                  <a:cubicBezTo>
                    <a:pt x="1838000" y="1527000"/>
                    <a:pt x="1770333" y="1548333"/>
                    <a:pt x="1701000" y="1563000"/>
                  </a:cubicBezTo>
                  <a:cubicBezTo>
                    <a:pt x="1631667" y="1577667"/>
                    <a:pt x="1576667" y="1585000"/>
                    <a:pt x="1536000" y="1585000"/>
                  </a:cubicBezTo>
                  <a:cubicBezTo>
                    <a:pt x="1363333" y="1585000"/>
                    <a:pt x="1233333" y="1538333"/>
                    <a:pt x="1146000" y="1445000"/>
                  </a:cubicBezTo>
                  <a:cubicBezTo>
                    <a:pt x="1051333" y="1345667"/>
                    <a:pt x="1004000" y="1200000"/>
                    <a:pt x="1004000" y="1008000"/>
                  </a:cubicBezTo>
                  <a:cubicBezTo>
                    <a:pt x="1004000" y="808667"/>
                    <a:pt x="1047333" y="660000"/>
                    <a:pt x="1134000" y="562000"/>
                  </a:cubicBezTo>
                  <a:cubicBezTo>
                    <a:pt x="1222667" y="460000"/>
                    <a:pt x="1346000" y="409000"/>
                    <a:pt x="1504000" y="409000"/>
                  </a:cubicBezTo>
                  <a:cubicBezTo>
                    <a:pt x="1650667" y="409000"/>
                    <a:pt x="1761333" y="457333"/>
                    <a:pt x="1836000" y="554000"/>
                  </a:cubicBezTo>
                  <a:cubicBezTo>
                    <a:pt x="1910000" y="655333"/>
                    <a:pt x="1947000" y="787333"/>
                    <a:pt x="1947000" y="950000"/>
                  </a:cubicBezTo>
                  <a:close/>
                  <a:moveTo>
                    <a:pt x="1854000" y="930000"/>
                  </a:moveTo>
                  <a:cubicBezTo>
                    <a:pt x="1854000" y="772667"/>
                    <a:pt x="1818667" y="658000"/>
                    <a:pt x="1748000" y="586000"/>
                  </a:cubicBezTo>
                  <a:cubicBezTo>
                    <a:pt x="1688667" y="522000"/>
                    <a:pt x="1608000" y="490000"/>
                    <a:pt x="1506000" y="490000"/>
                  </a:cubicBezTo>
                  <a:cubicBezTo>
                    <a:pt x="1394667" y="490000"/>
                    <a:pt x="1301333" y="523333"/>
                    <a:pt x="1226000" y="590000"/>
                  </a:cubicBezTo>
                  <a:cubicBezTo>
                    <a:pt x="1156667" y="652000"/>
                    <a:pt x="1115000" y="765333"/>
                    <a:pt x="1101000" y="930000"/>
                  </a:cubicBezTo>
                  <a:close/>
                </a:path>
              </a:pathLst>
            </a:custGeom>
            <a:solidFill>
              <a:srgbClr val="0BB0A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" name="Greenhouse wordmark — e"/>
            <p:cNvSpPr/>
            <p:nvPr/>
          </p:nvSpPr>
          <p:spPr>
            <a:xfrm>
              <a:off x="1102530" y="5366749"/>
              <a:ext cx="2467567" cy="551558"/>
            </a:xfrm>
            <a:custGeom>
              <a:avLst/>
              <a:gdLst/>
              <a:ahLst/>
              <a:cxnLst/>
              <a:rect l="0" t="0" r="r" b="b"/>
              <a:pathLst>
                <a:path w="10836000" h="2048000" fill="norm" stroke="0">
                  <a:moveTo>
                    <a:pt x="3207000" y="950000"/>
                  </a:moveTo>
                  <a:lnTo>
                    <a:pt x="3207000" y="1008000"/>
                  </a:lnTo>
                  <a:lnTo>
                    <a:pt x="2357000" y="1008000"/>
                  </a:lnTo>
                  <a:cubicBezTo>
                    <a:pt x="2357000" y="1188000"/>
                    <a:pt x="2392000" y="1314000"/>
                    <a:pt x="2462000" y="1386000"/>
                  </a:cubicBezTo>
                  <a:cubicBezTo>
                    <a:pt x="2539333" y="1466000"/>
                    <a:pt x="2654333" y="1506000"/>
                    <a:pt x="2807000" y="1506000"/>
                  </a:cubicBezTo>
                  <a:cubicBezTo>
                    <a:pt x="2847000" y="1506000"/>
                    <a:pt x="2900000" y="1497333"/>
                    <a:pt x="2966000" y="1480000"/>
                  </a:cubicBezTo>
                  <a:cubicBezTo>
                    <a:pt x="3032667" y="1462667"/>
                    <a:pt x="3098667" y="1436667"/>
                    <a:pt x="3164000" y="1402000"/>
                  </a:cubicBezTo>
                  <a:lnTo>
                    <a:pt x="3164000" y="1499000"/>
                  </a:lnTo>
                  <a:cubicBezTo>
                    <a:pt x="3098000" y="1527000"/>
                    <a:pt x="3030333" y="1548333"/>
                    <a:pt x="2961000" y="1563000"/>
                  </a:cubicBezTo>
                  <a:cubicBezTo>
                    <a:pt x="2891667" y="1577667"/>
                    <a:pt x="2836667" y="1585000"/>
                    <a:pt x="2796000" y="1585000"/>
                  </a:cubicBezTo>
                  <a:cubicBezTo>
                    <a:pt x="2623333" y="1585000"/>
                    <a:pt x="2493333" y="1538333"/>
                    <a:pt x="2406000" y="1445000"/>
                  </a:cubicBezTo>
                  <a:cubicBezTo>
                    <a:pt x="2311333" y="1345667"/>
                    <a:pt x="2264000" y="1200000"/>
                    <a:pt x="2264000" y="1008000"/>
                  </a:cubicBezTo>
                  <a:cubicBezTo>
                    <a:pt x="2264000" y="808667"/>
                    <a:pt x="2307333" y="660000"/>
                    <a:pt x="2394000" y="562000"/>
                  </a:cubicBezTo>
                  <a:cubicBezTo>
                    <a:pt x="2482667" y="460000"/>
                    <a:pt x="2606000" y="409000"/>
                    <a:pt x="2764000" y="409000"/>
                  </a:cubicBezTo>
                  <a:cubicBezTo>
                    <a:pt x="2910667" y="409000"/>
                    <a:pt x="3021333" y="457333"/>
                    <a:pt x="3096000" y="554000"/>
                  </a:cubicBezTo>
                  <a:cubicBezTo>
                    <a:pt x="3170000" y="655333"/>
                    <a:pt x="3207000" y="787333"/>
                    <a:pt x="3207000" y="950000"/>
                  </a:cubicBezTo>
                  <a:close/>
                  <a:moveTo>
                    <a:pt x="3114000" y="930000"/>
                  </a:moveTo>
                  <a:cubicBezTo>
                    <a:pt x="3114000" y="772667"/>
                    <a:pt x="3078667" y="658000"/>
                    <a:pt x="3008000" y="586000"/>
                  </a:cubicBezTo>
                  <a:cubicBezTo>
                    <a:pt x="2948667" y="522000"/>
                    <a:pt x="2868000" y="490000"/>
                    <a:pt x="2766000" y="490000"/>
                  </a:cubicBezTo>
                  <a:cubicBezTo>
                    <a:pt x="2654667" y="490000"/>
                    <a:pt x="2561333" y="523333"/>
                    <a:pt x="2486000" y="590000"/>
                  </a:cubicBezTo>
                  <a:cubicBezTo>
                    <a:pt x="2416667" y="652000"/>
                    <a:pt x="2375000" y="765333"/>
                    <a:pt x="2361000" y="930000"/>
                  </a:cubicBezTo>
                  <a:close/>
                </a:path>
              </a:pathLst>
            </a:custGeom>
            <a:solidFill>
              <a:srgbClr val="0BB0A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" name="Greenhouse wordmark — n"/>
            <p:cNvSpPr/>
            <p:nvPr/>
          </p:nvSpPr>
          <p:spPr>
            <a:xfrm>
              <a:off x="1102530" y="5366749"/>
              <a:ext cx="2467567" cy="551558"/>
            </a:xfrm>
            <a:custGeom>
              <a:avLst/>
              <a:gdLst/>
              <a:ahLst/>
              <a:cxnLst/>
              <a:rect l="0" t="0" r="r" b="b"/>
              <a:pathLst>
                <a:path w="10836000" h="2048000" fill="norm" stroke="0">
                  <a:moveTo>
                    <a:pt x="4440000" y="880000"/>
                  </a:moveTo>
                  <a:lnTo>
                    <a:pt x="4440000" y="1556000"/>
                  </a:lnTo>
                  <a:lnTo>
                    <a:pt x="4348000" y="1556000"/>
                  </a:lnTo>
                  <a:lnTo>
                    <a:pt x="4348000" y="886000"/>
                  </a:lnTo>
                  <a:cubicBezTo>
                    <a:pt x="4348000" y="740667"/>
                    <a:pt x="4324667" y="638333"/>
                    <a:pt x="4278000" y="579000"/>
                  </a:cubicBezTo>
                  <a:cubicBezTo>
                    <a:pt x="4231333" y="519667"/>
                    <a:pt x="4162667" y="490000"/>
                    <a:pt x="4072000" y="490000"/>
                  </a:cubicBezTo>
                  <a:cubicBezTo>
                    <a:pt x="3966000" y="490000"/>
                    <a:pt x="3875333" y="522000"/>
                    <a:pt x="3800000" y="586000"/>
                  </a:cubicBezTo>
                  <a:cubicBezTo>
                    <a:pt x="3724000" y="650667"/>
                    <a:pt x="3686000" y="763000"/>
                    <a:pt x="3686000" y="923000"/>
                  </a:cubicBezTo>
                  <a:lnTo>
                    <a:pt x="3686000" y="1556000"/>
                  </a:lnTo>
                  <a:lnTo>
                    <a:pt x="3594000" y="1556000"/>
                  </a:lnTo>
                  <a:lnTo>
                    <a:pt x="3594000" y="436000"/>
                  </a:lnTo>
                  <a:lnTo>
                    <a:pt x="3686000" y="436000"/>
                  </a:lnTo>
                  <a:lnTo>
                    <a:pt x="3686000" y="646000"/>
                  </a:lnTo>
                  <a:cubicBezTo>
                    <a:pt x="3718667" y="578000"/>
                    <a:pt x="3761667" y="526000"/>
                    <a:pt x="3815000" y="490000"/>
                  </a:cubicBezTo>
                  <a:cubicBezTo>
                    <a:pt x="3893667" y="436000"/>
                    <a:pt x="3980667" y="409000"/>
                    <a:pt x="4076000" y="409000"/>
                  </a:cubicBezTo>
                  <a:cubicBezTo>
                    <a:pt x="4186667" y="409000"/>
                    <a:pt x="4275000" y="446667"/>
                    <a:pt x="4341000" y="522000"/>
                  </a:cubicBezTo>
                  <a:cubicBezTo>
                    <a:pt x="4407000" y="596667"/>
                    <a:pt x="4440000" y="716000"/>
                    <a:pt x="4440000" y="880000"/>
                  </a:cubicBezTo>
                  <a:close/>
                </a:path>
              </a:pathLst>
            </a:custGeom>
            <a:solidFill>
              <a:srgbClr val="0BB0A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" name="Greenhouse wordmark — h"/>
            <p:cNvSpPr/>
            <p:nvPr/>
          </p:nvSpPr>
          <p:spPr>
            <a:xfrm>
              <a:off x="1102530" y="5366749"/>
              <a:ext cx="2467567" cy="551558"/>
            </a:xfrm>
            <a:custGeom>
              <a:avLst/>
              <a:gdLst/>
              <a:ahLst/>
              <a:cxnLst/>
              <a:rect l="0" t="0" r="r" b="b"/>
              <a:pathLst>
                <a:path w="10836000" h="2048000" fill="norm" stroke="0">
                  <a:moveTo>
                    <a:pt x="5738000" y="880000"/>
                  </a:moveTo>
                  <a:lnTo>
                    <a:pt x="5738000" y="1556000"/>
                  </a:lnTo>
                  <a:lnTo>
                    <a:pt x="5646000" y="1556000"/>
                  </a:lnTo>
                  <a:lnTo>
                    <a:pt x="5646000" y="886000"/>
                  </a:lnTo>
                  <a:cubicBezTo>
                    <a:pt x="5646000" y="742000"/>
                    <a:pt x="5621667" y="640000"/>
                    <a:pt x="5573000" y="580000"/>
                  </a:cubicBezTo>
                  <a:cubicBezTo>
                    <a:pt x="5524333" y="520000"/>
                    <a:pt x="5450667" y="490000"/>
                    <a:pt x="5352000" y="490000"/>
                  </a:cubicBezTo>
                  <a:cubicBezTo>
                    <a:pt x="5238667" y="490000"/>
                    <a:pt x="5149000" y="523333"/>
                    <a:pt x="5083000" y="590000"/>
                  </a:cubicBezTo>
                  <a:cubicBezTo>
                    <a:pt x="5017000" y="656667"/>
                    <a:pt x="4984000" y="767667"/>
                    <a:pt x="4984000" y="923000"/>
                  </a:cubicBezTo>
                  <a:lnTo>
                    <a:pt x="4984000" y="1556000"/>
                  </a:lnTo>
                  <a:lnTo>
                    <a:pt x="4892000" y="1556000"/>
                  </a:lnTo>
                  <a:lnTo>
                    <a:pt x="4892000" y="0"/>
                  </a:lnTo>
                  <a:lnTo>
                    <a:pt x="4984000" y="0"/>
                  </a:lnTo>
                  <a:lnTo>
                    <a:pt x="4984000" y="643000"/>
                  </a:lnTo>
                  <a:cubicBezTo>
                    <a:pt x="5005333" y="585667"/>
                    <a:pt x="5043333" y="534667"/>
                    <a:pt x="5098000" y="490000"/>
                  </a:cubicBezTo>
                  <a:cubicBezTo>
                    <a:pt x="5163333" y="436000"/>
                    <a:pt x="5255333" y="409000"/>
                    <a:pt x="5374000" y="409000"/>
                  </a:cubicBezTo>
                  <a:cubicBezTo>
                    <a:pt x="5484667" y="409000"/>
                    <a:pt x="5573000" y="448667"/>
                    <a:pt x="5639000" y="528000"/>
                  </a:cubicBezTo>
                  <a:cubicBezTo>
                    <a:pt x="5705000" y="608000"/>
                    <a:pt x="5738000" y="725333"/>
                    <a:pt x="5738000" y="880000"/>
                  </a:cubicBezTo>
                  <a:close/>
                </a:path>
              </a:pathLst>
            </a:custGeom>
            <a:solidFill>
              <a:srgbClr val="0BB0A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Greenhouse wordmark — o"/>
            <p:cNvSpPr/>
            <p:nvPr/>
          </p:nvSpPr>
          <p:spPr>
            <a:xfrm>
              <a:off x="1102530" y="5366749"/>
              <a:ext cx="2467567" cy="551558"/>
            </a:xfrm>
            <a:custGeom>
              <a:avLst/>
              <a:gdLst/>
              <a:ahLst/>
              <a:cxnLst/>
              <a:rect l="0" t="0" r="r" b="b"/>
              <a:pathLst>
                <a:path w="10836000" h="2048000" fill="norm" stroke="0">
                  <a:moveTo>
                    <a:pt x="6316000" y="627000"/>
                  </a:moveTo>
                  <a:cubicBezTo>
                    <a:pt x="6249333" y="717667"/>
                    <a:pt x="6216000" y="840333"/>
                    <a:pt x="6216000" y="995000"/>
                  </a:cubicBezTo>
                  <a:cubicBezTo>
                    <a:pt x="6216000" y="1153667"/>
                    <a:pt x="6249000" y="1278333"/>
                    <a:pt x="6315000" y="1369000"/>
                  </a:cubicBezTo>
                  <a:cubicBezTo>
                    <a:pt x="6381000" y="1460333"/>
                    <a:pt x="6471333" y="1506000"/>
                    <a:pt x="6586000" y="1506000"/>
                  </a:cubicBezTo>
                  <a:cubicBezTo>
                    <a:pt x="6700000" y="1506000"/>
                    <a:pt x="6790000" y="1460333"/>
                    <a:pt x="6856000" y="1369000"/>
                  </a:cubicBezTo>
                  <a:cubicBezTo>
                    <a:pt x="6922667" y="1277000"/>
                    <a:pt x="6956000" y="1152333"/>
                    <a:pt x="6956000" y="995000"/>
                  </a:cubicBezTo>
                  <a:cubicBezTo>
                    <a:pt x="6956000" y="842333"/>
                    <a:pt x="6922667" y="720000"/>
                    <a:pt x="6856000" y="628000"/>
                  </a:cubicBezTo>
                  <a:cubicBezTo>
                    <a:pt x="6790000" y="536000"/>
                    <a:pt x="6700000" y="490000"/>
                    <a:pt x="6586000" y="490000"/>
                  </a:cubicBezTo>
                  <a:cubicBezTo>
                    <a:pt x="6472000" y="490000"/>
                    <a:pt x="6382000" y="535667"/>
                    <a:pt x="6316000" y="627000"/>
                  </a:cubicBezTo>
                  <a:close/>
                  <a:moveTo>
                    <a:pt x="6585000" y="409000"/>
                  </a:moveTo>
                  <a:cubicBezTo>
                    <a:pt x="6727667" y="409000"/>
                    <a:pt x="6840333" y="462333"/>
                    <a:pt x="6923000" y="569000"/>
                  </a:cubicBezTo>
                  <a:cubicBezTo>
                    <a:pt x="7006333" y="676333"/>
                    <a:pt x="7048000" y="818667"/>
                    <a:pt x="7048000" y="996000"/>
                  </a:cubicBezTo>
                  <a:cubicBezTo>
                    <a:pt x="7048000" y="1179333"/>
                    <a:pt x="7006333" y="1324000"/>
                    <a:pt x="6923000" y="1430000"/>
                  </a:cubicBezTo>
                  <a:cubicBezTo>
                    <a:pt x="6840333" y="1536667"/>
                    <a:pt x="6727667" y="1590000"/>
                    <a:pt x="6585000" y="1590000"/>
                  </a:cubicBezTo>
                  <a:cubicBezTo>
                    <a:pt x="6441000" y="1590000"/>
                    <a:pt x="6327333" y="1537000"/>
                    <a:pt x="6244000" y="1431000"/>
                  </a:cubicBezTo>
                  <a:cubicBezTo>
                    <a:pt x="6161333" y="1325000"/>
                    <a:pt x="6120000" y="1180000"/>
                    <a:pt x="6120000" y="996000"/>
                  </a:cubicBezTo>
                  <a:cubicBezTo>
                    <a:pt x="6120000" y="816667"/>
                    <a:pt x="6161667" y="674000"/>
                    <a:pt x="6245000" y="568000"/>
                  </a:cubicBezTo>
                  <a:cubicBezTo>
                    <a:pt x="6328333" y="462000"/>
                    <a:pt x="6441667" y="409000"/>
                    <a:pt x="6585000" y="409000"/>
                  </a:cubicBezTo>
                  <a:close/>
                </a:path>
              </a:pathLst>
            </a:custGeom>
            <a:solidFill>
              <a:srgbClr val="0BB0A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" name="Greenhouse wordmark — u"/>
            <p:cNvSpPr/>
            <p:nvPr/>
          </p:nvSpPr>
          <p:spPr>
            <a:xfrm>
              <a:off x="1102530" y="5366749"/>
              <a:ext cx="2467567" cy="551558"/>
            </a:xfrm>
            <a:custGeom>
              <a:avLst/>
              <a:gdLst/>
              <a:ahLst/>
              <a:cxnLst/>
              <a:rect l="0" t="0" r="r" b="b"/>
              <a:pathLst>
                <a:path w="10836000" h="2048000" fill="norm" stroke="0">
                  <a:moveTo>
                    <a:pt x="7431000" y="1112000"/>
                  </a:moveTo>
                  <a:lnTo>
                    <a:pt x="7431000" y="436000"/>
                  </a:lnTo>
                  <a:lnTo>
                    <a:pt x="7523000" y="436000"/>
                  </a:lnTo>
                  <a:lnTo>
                    <a:pt x="7523000" y="1106000"/>
                  </a:lnTo>
                  <a:cubicBezTo>
                    <a:pt x="7523000" y="1251333"/>
                    <a:pt x="7546333" y="1353667"/>
                    <a:pt x="7593000" y="1413000"/>
                  </a:cubicBezTo>
                  <a:cubicBezTo>
                    <a:pt x="7639667" y="1472333"/>
                    <a:pt x="7708333" y="1502000"/>
                    <a:pt x="7799000" y="1502000"/>
                  </a:cubicBezTo>
                  <a:cubicBezTo>
                    <a:pt x="7905000" y="1502000"/>
                    <a:pt x="7995667" y="1470000"/>
                    <a:pt x="8071000" y="1406000"/>
                  </a:cubicBezTo>
                  <a:cubicBezTo>
                    <a:pt x="8147000" y="1341333"/>
                    <a:pt x="8185000" y="1229000"/>
                    <a:pt x="8185000" y="1069000"/>
                  </a:cubicBezTo>
                  <a:lnTo>
                    <a:pt x="8185000" y="436000"/>
                  </a:lnTo>
                  <a:lnTo>
                    <a:pt x="8277000" y="436000"/>
                  </a:lnTo>
                  <a:lnTo>
                    <a:pt x="8277000" y="1556000"/>
                  </a:lnTo>
                  <a:lnTo>
                    <a:pt x="8185000" y="1556000"/>
                  </a:lnTo>
                  <a:lnTo>
                    <a:pt x="8185000" y="1346000"/>
                  </a:lnTo>
                  <a:cubicBezTo>
                    <a:pt x="8152333" y="1414000"/>
                    <a:pt x="8109333" y="1466000"/>
                    <a:pt x="8056000" y="1502000"/>
                  </a:cubicBezTo>
                  <a:cubicBezTo>
                    <a:pt x="7977333" y="1556000"/>
                    <a:pt x="7890333" y="1583000"/>
                    <a:pt x="7795000" y="1583000"/>
                  </a:cubicBezTo>
                  <a:cubicBezTo>
                    <a:pt x="7684333" y="1583000"/>
                    <a:pt x="7596000" y="1545333"/>
                    <a:pt x="7530000" y="1470000"/>
                  </a:cubicBezTo>
                  <a:cubicBezTo>
                    <a:pt x="7464000" y="1395333"/>
                    <a:pt x="7431000" y="1276000"/>
                    <a:pt x="7431000" y="1112000"/>
                  </a:cubicBezTo>
                  <a:close/>
                </a:path>
              </a:pathLst>
            </a:custGeom>
            <a:solidFill>
              <a:srgbClr val="0BB0A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" name="Greenhouse wordmark — s"/>
            <p:cNvSpPr/>
            <p:nvPr/>
          </p:nvSpPr>
          <p:spPr>
            <a:xfrm>
              <a:off x="1102530" y="5366749"/>
              <a:ext cx="2467567" cy="551558"/>
            </a:xfrm>
            <a:custGeom>
              <a:avLst/>
              <a:gdLst/>
              <a:ahLst/>
              <a:cxnLst/>
              <a:rect l="0" t="0" r="r" b="b"/>
              <a:pathLst>
                <a:path w="10836000" h="2048000" fill="norm" stroke="0">
                  <a:moveTo>
                    <a:pt x="9375000" y="469000"/>
                  </a:moveTo>
                  <a:lnTo>
                    <a:pt x="9375000" y="570000"/>
                  </a:lnTo>
                  <a:cubicBezTo>
                    <a:pt x="9310333" y="534000"/>
                    <a:pt x="9270000" y="514000"/>
                    <a:pt x="9254000" y="510000"/>
                  </a:cubicBezTo>
                  <a:cubicBezTo>
                    <a:pt x="9207333" y="498667"/>
                    <a:pt x="9149333" y="492000"/>
                    <a:pt x="9080000" y="490000"/>
                  </a:cubicBezTo>
                  <a:cubicBezTo>
                    <a:pt x="8974667" y="490000"/>
                    <a:pt x="8892000" y="511000"/>
                    <a:pt x="8832000" y="553000"/>
                  </a:cubicBezTo>
                  <a:cubicBezTo>
                    <a:pt x="8786000" y="587667"/>
                    <a:pt x="8763000" y="647000"/>
                    <a:pt x="8763000" y="731000"/>
                  </a:cubicBezTo>
                  <a:cubicBezTo>
                    <a:pt x="8763000" y="787667"/>
                    <a:pt x="8784667" y="832000"/>
                    <a:pt x="8828000" y="864000"/>
                  </a:cubicBezTo>
                  <a:cubicBezTo>
                    <a:pt x="8874000" y="898667"/>
                    <a:pt x="8939667" y="925333"/>
                    <a:pt x="9025000" y="944000"/>
                  </a:cubicBezTo>
                  <a:lnTo>
                    <a:pt x="9088000" y="958000"/>
                  </a:lnTo>
                  <a:cubicBezTo>
                    <a:pt x="9194000" y="981333"/>
                    <a:pt x="9274333" y="1014333"/>
                    <a:pt x="9329000" y="1057000"/>
                  </a:cubicBezTo>
                  <a:cubicBezTo>
                    <a:pt x="9392333" y="1105667"/>
                    <a:pt x="9425667" y="1169000"/>
                    <a:pt x="9429000" y="1247000"/>
                  </a:cubicBezTo>
                  <a:cubicBezTo>
                    <a:pt x="9429000" y="1353000"/>
                    <a:pt x="9397667" y="1436000"/>
                    <a:pt x="9335000" y="1496000"/>
                  </a:cubicBezTo>
                  <a:cubicBezTo>
                    <a:pt x="9268333" y="1555333"/>
                    <a:pt x="9161000" y="1585000"/>
                    <a:pt x="9013000" y="1585000"/>
                  </a:cubicBezTo>
                  <a:cubicBezTo>
                    <a:pt x="8930333" y="1585000"/>
                    <a:pt x="8867667" y="1579333"/>
                    <a:pt x="8825000" y="1568000"/>
                  </a:cubicBezTo>
                  <a:cubicBezTo>
                    <a:pt x="8773667" y="1553333"/>
                    <a:pt x="8719667" y="1535667"/>
                    <a:pt x="8663000" y="1515000"/>
                  </a:cubicBezTo>
                  <a:lnTo>
                    <a:pt x="8663000" y="1400000"/>
                  </a:lnTo>
                  <a:cubicBezTo>
                    <a:pt x="8744333" y="1446667"/>
                    <a:pt x="8797000" y="1473333"/>
                    <a:pt x="8821000" y="1480000"/>
                  </a:cubicBezTo>
                  <a:cubicBezTo>
                    <a:pt x="8887000" y="1497333"/>
                    <a:pt x="8952333" y="1506000"/>
                    <a:pt x="9017000" y="1506000"/>
                  </a:cubicBezTo>
                  <a:cubicBezTo>
                    <a:pt x="9125000" y="1506000"/>
                    <a:pt x="9204667" y="1483667"/>
                    <a:pt x="9256000" y="1439000"/>
                  </a:cubicBezTo>
                  <a:cubicBezTo>
                    <a:pt x="9308000" y="1393667"/>
                    <a:pt x="9334000" y="1334333"/>
                    <a:pt x="9334000" y="1261000"/>
                  </a:cubicBezTo>
                  <a:cubicBezTo>
                    <a:pt x="9334000" y="1199667"/>
                    <a:pt x="9316667" y="1155000"/>
                    <a:pt x="9282000" y="1127000"/>
                  </a:cubicBezTo>
                  <a:cubicBezTo>
                    <a:pt x="9232000" y="1087000"/>
                    <a:pt x="9152333" y="1054333"/>
                    <a:pt x="9043000" y="1029000"/>
                  </a:cubicBezTo>
                  <a:lnTo>
                    <a:pt x="8979000" y="1014000"/>
                  </a:lnTo>
                  <a:cubicBezTo>
                    <a:pt x="8885000" y="992000"/>
                    <a:pt x="8813333" y="961000"/>
                    <a:pt x="8764000" y="921000"/>
                  </a:cubicBezTo>
                  <a:cubicBezTo>
                    <a:pt x="8702000" y="871000"/>
                    <a:pt x="8671000" y="810333"/>
                    <a:pt x="8671000" y="739000"/>
                  </a:cubicBezTo>
                  <a:cubicBezTo>
                    <a:pt x="8671000" y="621667"/>
                    <a:pt x="8708333" y="537333"/>
                    <a:pt x="8783000" y="486000"/>
                  </a:cubicBezTo>
                  <a:cubicBezTo>
                    <a:pt x="8857667" y="434667"/>
                    <a:pt x="8949333" y="409000"/>
                    <a:pt x="9058000" y="409000"/>
                  </a:cubicBezTo>
                  <a:cubicBezTo>
                    <a:pt x="9150667" y="409000"/>
                    <a:pt x="9214667" y="414000"/>
                    <a:pt x="9250000" y="424000"/>
                  </a:cubicBezTo>
                  <a:cubicBezTo>
                    <a:pt x="9292667" y="436000"/>
                    <a:pt x="9334333" y="451000"/>
                    <a:pt x="9375000" y="469000"/>
                  </a:cubicBezTo>
                  <a:close/>
                </a:path>
              </a:pathLst>
            </a:custGeom>
            <a:solidFill>
              <a:srgbClr val="0BB0A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" name="Greenhouse wordmark — e"/>
            <p:cNvSpPr/>
            <p:nvPr/>
          </p:nvSpPr>
          <p:spPr>
            <a:xfrm>
              <a:off x="1102530" y="5366749"/>
              <a:ext cx="2467567" cy="551558"/>
            </a:xfrm>
            <a:custGeom>
              <a:avLst/>
              <a:gdLst/>
              <a:ahLst/>
              <a:cxnLst/>
              <a:rect l="0" t="0" r="r" b="b"/>
              <a:pathLst>
                <a:path w="10836000" h="2048000" fill="norm" stroke="0">
                  <a:moveTo>
                    <a:pt x="10681000" y="950000"/>
                  </a:moveTo>
                  <a:lnTo>
                    <a:pt x="10681000" y="1008000"/>
                  </a:lnTo>
                  <a:lnTo>
                    <a:pt x="9831000" y="1008000"/>
                  </a:lnTo>
                  <a:cubicBezTo>
                    <a:pt x="9831000" y="1188000"/>
                    <a:pt x="9866000" y="1314000"/>
                    <a:pt x="9936000" y="1386000"/>
                  </a:cubicBezTo>
                  <a:cubicBezTo>
                    <a:pt x="10013333" y="1466000"/>
                    <a:pt x="10128333" y="1506000"/>
                    <a:pt x="10281000" y="1506000"/>
                  </a:cubicBezTo>
                  <a:cubicBezTo>
                    <a:pt x="10321000" y="1506000"/>
                    <a:pt x="10374000" y="1497333"/>
                    <a:pt x="10440000" y="1480000"/>
                  </a:cubicBezTo>
                  <a:cubicBezTo>
                    <a:pt x="10506667" y="1462667"/>
                    <a:pt x="10572667" y="1436667"/>
                    <a:pt x="10638000" y="1402000"/>
                  </a:cubicBezTo>
                  <a:lnTo>
                    <a:pt x="10638000" y="1499000"/>
                  </a:lnTo>
                  <a:cubicBezTo>
                    <a:pt x="10572000" y="1527000"/>
                    <a:pt x="10504333" y="1548333"/>
                    <a:pt x="10435000" y="1563000"/>
                  </a:cubicBezTo>
                  <a:cubicBezTo>
                    <a:pt x="10365667" y="1577667"/>
                    <a:pt x="10310667" y="1585000"/>
                    <a:pt x="10270000" y="1585000"/>
                  </a:cubicBezTo>
                  <a:cubicBezTo>
                    <a:pt x="10097333" y="1585000"/>
                    <a:pt x="9967333" y="1538333"/>
                    <a:pt x="9880000" y="1445000"/>
                  </a:cubicBezTo>
                  <a:cubicBezTo>
                    <a:pt x="9785333" y="1345667"/>
                    <a:pt x="9738000" y="1200000"/>
                    <a:pt x="9738000" y="1008000"/>
                  </a:cubicBezTo>
                  <a:cubicBezTo>
                    <a:pt x="9738000" y="808667"/>
                    <a:pt x="9781333" y="660000"/>
                    <a:pt x="9868000" y="562000"/>
                  </a:cubicBezTo>
                  <a:cubicBezTo>
                    <a:pt x="9956667" y="460000"/>
                    <a:pt x="10080000" y="409000"/>
                    <a:pt x="10238000" y="409000"/>
                  </a:cubicBezTo>
                  <a:cubicBezTo>
                    <a:pt x="10384667" y="409000"/>
                    <a:pt x="10495333" y="457333"/>
                    <a:pt x="10570000" y="554000"/>
                  </a:cubicBezTo>
                  <a:cubicBezTo>
                    <a:pt x="10644000" y="655333"/>
                    <a:pt x="10681000" y="787333"/>
                    <a:pt x="10681000" y="950000"/>
                  </a:cubicBezTo>
                  <a:close/>
                  <a:moveTo>
                    <a:pt x="10588000" y="930000"/>
                  </a:moveTo>
                  <a:cubicBezTo>
                    <a:pt x="10588000" y="772667"/>
                    <a:pt x="10552667" y="658000"/>
                    <a:pt x="10482000" y="586000"/>
                  </a:cubicBezTo>
                  <a:cubicBezTo>
                    <a:pt x="10422667" y="522000"/>
                    <a:pt x="10342000" y="490000"/>
                    <a:pt x="10240000" y="490000"/>
                  </a:cubicBezTo>
                  <a:cubicBezTo>
                    <a:pt x="10128667" y="490000"/>
                    <a:pt x="10035333" y="523333"/>
                    <a:pt x="9960000" y="590000"/>
                  </a:cubicBezTo>
                  <a:cubicBezTo>
                    <a:pt x="9890667" y="652000"/>
                    <a:pt x="9849000" y="765333"/>
                    <a:pt x="9835000" y="930000"/>
                  </a:cubicBezTo>
                  <a:close/>
                </a:path>
              </a:pathLst>
            </a:custGeom>
            <a:solidFill>
              <a:srgbClr val="0BB0A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" name="Greenhouse wordmark — g upper loop"/>
            <p:cNvSpPr/>
            <p:nvPr/>
          </p:nvSpPr>
          <p:spPr>
            <a:xfrm>
              <a:off x="700019" y="5515582"/>
              <a:ext cx="341259" cy="341440"/>
            </a:xfrm>
            <a:custGeom>
              <a:avLst/>
              <a:gdLst/>
              <a:ahLst/>
              <a:cxnLst/>
              <a:rect l="0" t="0" r="r" b="b"/>
              <a:pathLst>
                <a:path w="39000" h="39000" fill="norm" stroke="0">
                  <a:moveTo>
                    <a:pt x="19500" y="0"/>
                  </a:moveTo>
                  <a:lnTo>
                    <a:pt x="19500" y="0"/>
                  </a:lnTo>
                  <a:cubicBezTo>
                    <a:pt x="30270" y="0"/>
                    <a:pt x="39000" y="8730"/>
                    <a:pt x="39000" y="19500"/>
                  </a:cubicBezTo>
                  <a:cubicBezTo>
                    <a:pt x="39000" y="30270"/>
                    <a:pt x="30270" y="39000"/>
                    <a:pt x="19500" y="39000"/>
                  </a:cubicBezTo>
                  <a:lnTo>
                    <a:pt x="19500" y="39000"/>
                  </a:lnTo>
                  <a:cubicBezTo>
                    <a:pt x="8730" y="39000"/>
                    <a:pt x="0" y="30270"/>
                    <a:pt x="0" y="19500"/>
                  </a:cubicBezTo>
                  <a:cubicBezTo>
                    <a:pt x="0" y="8730"/>
                    <a:pt x="8730" y="0"/>
                    <a:pt x="19500" y="0"/>
                  </a:cubicBezTo>
                  <a:close/>
                  <a:moveTo>
                    <a:pt x="19500" y="3000"/>
                  </a:moveTo>
                  <a:cubicBezTo>
                    <a:pt x="10387" y="3000"/>
                    <a:pt x="3000" y="10387"/>
                    <a:pt x="3000" y="19500"/>
                  </a:cubicBezTo>
                  <a:cubicBezTo>
                    <a:pt x="3000" y="28613"/>
                    <a:pt x="10387" y="36000"/>
                    <a:pt x="19500" y="36000"/>
                  </a:cubicBezTo>
                  <a:lnTo>
                    <a:pt x="19500" y="36000"/>
                  </a:lnTo>
                  <a:cubicBezTo>
                    <a:pt x="28613" y="36000"/>
                    <a:pt x="36000" y="28613"/>
                    <a:pt x="36000" y="19500"/>
                  </a:cubicBezTo>
                  <a:cubicBezTo>
                    <a:pt x="36000" y="10387"/>
                    <a:pt x="28613" y="3000"/>
                    <a:pt x="19500" y="3000"/>
                  </a:cubicBezTo>
                  <a:lnTo>
                    <a:pt x="19500" y="3000"/>
                  </a:lnTo>
                  <a:close/>
                </a:path>
              </a:pathLst>
            </a:custGeom>
            <a:solidFill>
              <a:srgbClr val="0BB0A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" name="Greenhouse wordmark — g descender"/>
            <p:cNvSpPr/>
            <p:nvPr/>
          </p:nvSpPr>
          <p:spPr>
            <a:xfrm>
              <a:off x="700019" y="5909553"/>
              <a:ext cx="376260" cy="376460"/>
            </a:xfrm>
            <a:custGeom>
              <a:avLst/>
              <a:gdLst/>
              <a:ahLst/>
              <a:cxnLst/>
              <a:rect l="0" t="0" r="r" b="b"/>
              <a:pathLst>
                <a:path w="43000" h="43000" fill="norm" stroke="0">
                  <a:moveTo>
                    <a:pt x="21500" y="0"/>
                  </a:moveTo>
                  <a:lnTo>
                    <a:pt x="21500" y="0"/>
                  </a:lnTo>
                  <a:cubicBezTo>
                    <a:pt x="33374" y="0"/>
                    <a:pt x="43000" y="9626"/>
                    <a:pt x="43000" y="21500"/>
                  </a:cubicBezTo>
                  <a:cubicBezTo>
                    <a:pt x="43000" y="33374"/>
                    <a:pt x="33374" y="43000"/>
                    <a:pt x="21500" y="43000"/>
                  </a:cubicBezTo>
                  <a:lnTo>
                    <a:pt x="21500" y="43000"/>
                  </a:lnTo>
                  <a:cubicBezTo>
                    <a:pt x="9626" y="43000"/>
                    <a:pt x="0" y="33374"/>
                    <a:pt x="0" y="21500"/>
                  </a:cubicBezTo>
                  <a:cubicBezTo>
                    <a:pt x="0" y="9626"/>
                    <a:pt x="9626" y="0"/>
                    <a:pt x="21500" y="0"/>
                  </a:cubicBezTo>
                  <a:close/>
                  <a:moveTo>
                    <a:pt x="21500" y="3000"/>
                  </a:moveTo>
                  <a:cubicBezTo>
                    <a:pt x="11283" y="3000"/>
                    <a:pt x="3000" y="11283"/>
                    <a:pt x="3000" y="21500"/>
                  </a:cubicBezTo>
                  <a:cubicBezTo>
                    <a:pt x="3000" y="31717"/>
                    <a:pt x="11283" y="40000"/>
                    <a:pt x="21500" y="40000"/>
                  </a:cubicBezTo>
                  <a:lnTo>
                    <a:pt x="21500" y="40000"/>
                  </a:lnTo>
                  <a:cubicBezTo>
                    <a:pt x="31717" y="40000"/>
                    <a:pt x="40000" y="31717"/>
                    <a:pt x="40000" y="21500"/>
                  </a:cubicBezTo>
                  <a:cubicBezTo>
                    <a:pt x="40000" y="11283"/>
                    <a:pt x="31717" y="3000"/>
                    <a:pt x="21500" y="3000"/>
                  </a:cubicBezTo>
                  <a:lnTo>
                    <a:pt x="21500" y="3000"/>
                  </a:lnTo>
                  <a:close/>
                </a:path>
              </a:pathLst>
            </a:custGeom>
            <a:solidFill>
              <a:srgbClr val="0BB0A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" name="Greenhouse wordmark — g dot"/>
            <p:cNvSpPr/>
            <p:nvPr/>
          </p:nvSpPr>
          <p:spPr>
            <a:xfrm>
              <a:off x="980026" y="5419279"/>
              <a:ext cx="61251" cy="61284"/>
            </a:xfrm>
            <a:prstGeom prst="ellipse">
              <a:avLst/>
            </a:prstGeom>
            <a:solidFill>
              <a:srgbClr val="0BB0A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" name="Greenhouse heading"/>
            <p:cNvSpPr txBox="1"/>
            <p:nvPr/>
          </p:nvSpPr>
          <p:spPr>
            <a:xfrm>
              <a:off x="525014" y="6347297"/>
              <a:ext cx="3193837" cy="306421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29" b="1">
                  <a:solidFill>
                    <a:srgbClr val="09254C"/>
                  </a:solidFill>
                  <a:latin typeface="Arial"/>
                </a:rPr>
                <a:t>RECRUITING</a:t>
              </a:r>
            </a:p>
          </p:txBody>
        </p:sp>
        <p:sp>
          <p:nvSpPr>
            <p:cNvPr id="61" name="Greenhouse description"/>
            <p:cNvSpPr txBox="1"/>
            <p:nvPr/>
          </p:nvSpPr>
          <p:spPr>
            <a:xfrm>
              <a:off x="490013" y="6697493"/>
              <a:ext cx="3237588" cy="437744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46" b="0">
                  <a:solidFill>
                    <a:srgbClr val="525C68"/>
                  </a:solidFill>
                  <a:latin typeface="Arial"/>
                </a:rPr>
                <a:t>Requisitions · Candidates</a:t>
              </a:r>
            </a:p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46" b="0">
                  <a:solidFill>
                    <a:srgbClr val="525C68"/>
                  </a:solidFill>
                  <a:latin typeface="Arial"/>
                </a:rPr>
                <a:t>Recruiting stages · Hiring progress</a:t>
              </a:r>
            </a:p>
          </p:txBody>
        </p:sp>
      </p:grpSp>
      <p:sp>
        <p:nvSpPr>
          <p:cNvPr id="62" name="Label — TriNet input"/>
          <p:cNvSpPr txBox="1"/>
          <p:nvPr/>
        </p:nvSpPr>
        <p:spPr>
          <a:xfrm>
            <a:off x="4532623" y="892999"/>
            <a:ext cx="2056306" cy="53404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>
                <a:solidFill>
                  <a:srgbClr val="09254C"/>
                </a:solidFill>
                <a:latin typeface="Arial"/>
              </a:rPr>
              <a:t>Employee &amp;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>
                <a:solidFill>
                  <a:srgbClr val="09254C"/>
                </a:solidFill>
                <a:latin typeface="Arial"/>
              </a:rPr>
              <a:t>compensation data</a:t>
            </a:r>
          </a:p>
        </p:txBody>
      </p:sp>
      <p:sp>
        <p:nvSpPr>
          <p:cNvPr id="63" name="Label — TriNet output"/>
          <p:cNvSpPr txBox="1"/>
          <p:nvPr/>
        </p:nvSpPr>
        <p:spPr>
          <a:xfrm>
            <a:off x="3885106" y="2363821"/>
            <a:ext cx="1662545" cy="67412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91" b="0">
                <a:solidFill>
                  <a:srgbClr val="09254C"/>
                </a:solidFill>
                <a:latin typeface="Arial"/>
              </a:rPr>
              <a:t>Approved manager,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91" b="0">
                <a:solidFill>
                  <a:srgbClr val="09254C"/>
                </a:solidFill>
                <a:latin typeface="Arial"/>
              </a:rPr>
              <a:t>department &amp; position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91" b="0">
                <a:solidFill>
                  <a:srgbClr val="09254C"/>
                </a:solidFill>
                <a:latin typeface="Arial"/>
              </a:rPr>
              <a:t>updates</a:t>
            </a:r>
          </a:p>
        </p:txBody>
      </p:sp>
      <p:sp>
        <p:nvSpPr>
          <p:cNvPr id="64" name="Label — Greenhouse output"/>
          <p:cNvSpPr txBox="1"/>
          <p:nvPr/>
        </p:nvSpPr>
        <p:spPr>
          <a:xfrm>
            <a:off x="3876355" y="4946514"/>
            <a:ext cx="1662545" cy="49902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46" b="0">
                <a:solidFill>
                  <a:srgbClr val="09254C"/>
                </a:solidFill>
                <a:latin typeface="Arial"/>
              </a:rPr>
              <a:t>Approved positions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46" b="0">
                <a:solidFill>
                  <a:srgbClr val="09254C"/>
                </a:solidFill>
                <a:latin typeface="Arial"/>
              </a:rPr>
              <a:t>&amp; hiring plans</a:t>
            </a:r>
          </a:p>
        </p:txBody>
      </p:sp>
      <p:sp>
        <p:nvSpPr>
          <p:cNvPr id="65" name="Label — Greenhouse input"/>
          <p:cNvSpPr txBox="1"/>
          <p:nvPr/>
        </p:nvSpPr>
        <p:spPr>
          <a:xfrm>
            <a:off x="4637626" y="6399827"/>
            <a:ext cx="1960053" cy="48151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15" b="0">
                <a:solidFill>
                  <a:srgbClr val="09254C"/>
                </a:solidFill>
                <a:latin typeface="Arial"/>
              </a:rPr>
              <a:t>Recruiting progress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15" b="0">
                <a:solidFill>
                  <a:srgbClr val="09254C"/>
                </a:solidFill>
                <a:latin typeface="Arial"/>
              </a:rPr>
              <a:t>&amp; filled positions</a:t>
            </a:r>
          </a:p>
        </p:txBody>
      </p:sp>
      <p:sp>
        <p:nvSpPr>
          <p:cNvPr id="66" name="Label — Oracle output"/>
          <p:cNvSpPr txBox="1"/>
          <p:nvPr/>
        </p:nvSpPr>
        <p:spPr>
          <a:xfrm>
            <a:off x="9126499" y="3291840"/>
            <a:ext cx="1942553" cy="48151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63" b="0">
                <a:solidFill>
                  <a:srgbClr val="09254C"/>
                </a:solidFill>
                <a:latin typeface="Arial"/>
              </a:rPr>
              <a:t>Department structure,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63" b="0">
                <a:solidFill>
                  <a:srgbClr val="09254C"/>
                </a:solidFill>
                <a:latin typeface="Arial"/>
              </a:rPr>
              <a:t>budgets &amp; SLA allocations</a:t>
            </a:r>
          </a:p>
        </p:txBody>
      </p:sp>
      <p:sp>
        <p:nvSpPr>
          <p:cNvPr id="67" name="Footer"/>
          <p:cNvSpPr txBox="1"/>
          <p:nvPr/>
        </p:nvSpPr>
        <p:spPr>
          <a:xfrm>
            <a:off x="4900133" y="7660531"/>
            <a:ext cx="4830132" cy="253891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77" b="0">
                <a:solidFill>
                  <a:srgbClr val="697483"/>
                </a:solidFill>
                <a:latin typeface="Arial"/>
              </a:rPr>
              <a:t>Proposed integration model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Organization &amp; Workforce Platform — Proposed Integration Model</dc:title>
  <dc:subject>Editable system integration map</dc:subject>
  <dc:creator/>
  <cp:keywords>Divergent, TriNet, Greenhouse, Oracle, editable diagram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